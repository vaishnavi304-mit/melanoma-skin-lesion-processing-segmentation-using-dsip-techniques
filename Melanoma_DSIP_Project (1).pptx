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1236" y="-4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610A3-9CD7-4733-9B03-B0EC23C7A2BB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1A1D6-22F1-4818-A64F-5A4FE68F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00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Box 14"/>
          <p:cNvSpPr txBox="1"/>
          <p:nvPr/>
        </p:nvSpPr>
        <p:spPr>
          <a:xfrm>
            <a:off x="1050587" y="262647"/>
            <a:ext cx="7256834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                                 MIT </a:t>
            </a:r>
            <a:r>
              <a:rPr lang="en-US" b="1" dirty="0"/>
              <a:t>Academy of Engineering, Pune</a:t>
            </a:r>
            <a:endParaRPr lang="en-US" dirty="0"/>
          </a:p>
          <a:p>
            <a:r>
              <a:rPr lang="en-US" dirty="0" smtClean="0"/>
              <a:t>           Department </a:t>
            </a:r>
            <a:r>
              <a:rPr lang="en-US" dirty="0"/>
              <a:t>of Electronics &amp; Telecommunication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799" y="1149276"/>
            <a:ext cx="8671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Melanoma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Skin Lesion </a:t>
            </a:r>
            <a: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Processing Using Digital Image Techniques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39331" y="1749251"/>
            <a:ext cx="5134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</a:t>
            </a:r>
            <a:r>
              <a:rPr lang="en-US" sz="20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Submitted By</a:t>
            </a:r>
            <a:endParaRPr lang="en-US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="" xmlns:a16="http://schemas.microsoft.com/office/drawing/2014/main" id="{CF657772-3205-1B89-EF67-DBD707B8B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171177"/>
              </p:ext>
            </p:extLst>
          </p:nvPr>
        </p:nvGraphicFramePr>
        <p:xfrm>
          <a:off x="2522135" y="2175459"/>
          <a:ext cx="4646706" cy="19132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3353">
                  <a:extLst>
                    <a:ext uri="{9D8B030D-6E8A-4147-A177-3AD203B41FA5}">
                      <a16:colId xmlns="" xmlns:a16="http://schemas.microsoft.com/office/drawing/2014/main" val="1128244549"/>
                    </a:ext>
                  </a:extLst>
                </a:gridCol>
                <a:gridCol w="2323353">
                  <a:extLst>
                    <a:ext uri="{9D8B030D-6E8A-4147-A177-3AD203B41FA5}">
                      <a16:colId xmlns="" xmlns:a16="http://schemas.microsoft.com/office/drawing/2014/main" val="301667086"/>
                    </a:ext>
                  </a:extLst>
                </a:gridCol>
              </a:tblGrid>
              <a:tr h="458424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80849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err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Vaishnavi</a:t>
                      </a:r>
                      <a:r>
                        <a:rPr lang="en-IN" sz="160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aseline="0" dirty="0" err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Shinde</a:t>
                      </a:r>
                      <a:r>
                        <a:rPr lang="en-IN" sz="16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202402060016</a:t>
                      </a:r>
                      <a:endParaRPr lang="en-IN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843101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err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Shreya</a:t>
                      </a:r>
                      <a:r>
                        <a:rPr lang="en-IN" sz="160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aseline="0" dirty="0" err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Kalaskar</a:t>
                      </a:r>
                      <a:endParaRPr lang="en-IN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202402060006</a:t>
                      </a:r>
                      <a:endParaRPr lang="en-IN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4336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err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Pushkar</a:t>
                      </a:r>
                      <a:r>
                        <a:rPr lang="en-IN" sz="160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aseline="0" dirty="0" err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Yadav</a:t>
                      </a:r>
                      <a:endParaRPr lang="en-IN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202402060017</a:t>
                      </a:r>
                      <a:endParaRPr lang="en-IN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5616708"/>
                  </a:ext>
                </a:extLst>
              </a:tr>
              <a:tr h="342313">
                <a:tc>
                  <a:txBody>
                    <a:bodyPr/>
                    <a:lstStyle/>
                    <a:p>
                      <a:r>
                        <a:rPr lang="en-IN" sz="1600" dirty="0" err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Aayush</a:t>
                      </a:r>
                      <a:r>
                        <a:rPr lang="en-IN" sz="160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aseline="0" dirty="0" err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Katamkar</a:t>
                      </a:r>
                      <a:endParaRPr lang="en-IN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202402060015</a:t>
                      </a:r>
                      <a:endParaRPr lang="en-IN" sz="1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7360575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466681" y="4229393"/>
            <a:ext cx="40896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</a:t>
            </a:r>
            <a:r>
              <a:rPr 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Guided by</a:t>
            </a:r>
          </a:p>
          <a:p>
            <a:r>
              <a:rPr 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Dr. </a:t>
            </a:r>
            <a:r>
              <a:rPr lang="en-US" sz="1600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Smita</a:t>
            </a:r>
            <a:r>
              <a:rPr lang="en-US" sz="1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Kulkarni</a:t>
            </a:r>
            <a:endParaRPr lang="en-US" sz="1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15039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1"/>
            <a:ext cx="2423160" cy="146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4612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50876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2645924"/>
            <a:ext cx="9144000" cy="22665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just"/>
            <a:r>
              <a:rPr lang="en-US" dirty="0" smtClean="0"/>
              <a:t>   Objectives: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To enhance </a:t>
            </a:r>
            <a:r>
              <a:rPr lang="en-US" sz="14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dermoscopic</a:t>
            </a: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skin images using CLAHE, brightness enhancement, and gamma correction for better lesion visibility</a:t>
            </a:r>
            <a:r>
              <a:rPr lang="en-US" sz="14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To remove noise, hair artifacts, and unwanted texture variations using spatial filtering techniques</a:t>
            </a:r>
            <a:r>
              <a:rPr lang="en-US" sz="14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To accurately segment melanoma lesion regions from surrounding healthy skin using adaptive threshold segmentation</a:t>
            </a:r>
            <a:r>
              <a:rPr lang="en-US" sz="14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To improve lesion continuity and remove small noisy regions using morphological operations and connected component filtering</a:t>
            </a:r>
            <a:r>
              <a:rPr lang="en-US" sz="14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To develop a low-cost and interpretable melanoma detection pipeline that does not require GPU processing or large training </a:t>
            </a:r>
            <a:r>
              <a:rPr lang="en-US" sz="14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datasets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To detect melanoma lesion boundaries using contour detection and Canny edge detection techniques.</a:t>
            </a:r>
          </a:p>
        </p:txBody>
      </p:sp>
      <p:sp>
        <p:nvSpPr>
          <p:cNvPr id="12" name="Text 10"/>
          <p:cNvSpPr/>
          <p:nvPr/>
        </p:nvSpPr>
        <p:spPr>
          <a:xfrm>
            <a:off x="6309360" y="150876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1140589"/>
            <a:ext cx="83210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Melanoma is the most dangerous form of skin cancer, responsible for the majority of skin cancer-related deaths worldwide. Early and accurate detection is critical — when identified at stage I, survival rates exceed 98%; at stage IV, this drops below 20%. However, visual inspection of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dermoscopic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images is a skilled clinical task subject to inter-observer variability, making computer-aided analysis highly </a:t>
            </a:r>
            <a:r>
              <a:rPr lang="en-US" sz="1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valuable.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12-Stage Processing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840480" cy="5120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&amp; Resize (512×512)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1472184"/>
            <a:ext cx="0" cy="146304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18488"/>
            <a:ext cx="3840480" cy="5120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61848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Grayscale Conversion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2130552"/>
            <a:ext cx="0" cy="146304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76856"/>
            <a:ext cx="3840480" cy="51206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27685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CLAHE Enhancement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94560" y="2788920"/>
            <a:ext cx="0" cy="146304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35224"/>
            <a:ext cx="3840480" cy="5120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293522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Brightness Enhancement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94560" y="3447288"/>
            <a:ext cx="0" cy="146304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593592"/>
            <a:ext cx="3840480" cy="5120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5935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Gamma Correction (γ=1.7)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94560" y="4105656"/>
            <a:ext cx="0" cy="146304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251960"/>
            <a:ext cx="3840480" cy="5120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425196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Median Filtering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960120"/>
            <a:ext cx="3840480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96012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Adaptive Thresholding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1472184"/>
            <a:ext cx="0" cy="146304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1618488"/>
            <a:ext cx="3840480" cy="512064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161848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Gaussian Smoothing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2130552"/>
            <a:ext cx="0" cy="146304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2276856"/>
            <a:ext cx="3840480" cy="51206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0" y="227685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Morphological Closing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49440" y="2788920"/>
            <a:ext cx="0" cy="146304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2935224"/>
            <a:ext cx="3840480" cy="51206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293522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Morphological Dilation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3447288"/>
            <a:ext cx="0" cy="146304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3593592"/>
            <a:ext cx="3840480" cy="5120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0" y="35935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Connected Components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49440" y="4105656"/>
            <a:ext cx="0" cy="146304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0" y="4251960"/>
            <a:ext cx="3840480" cy="5120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0" y="425196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Contour + Canny Edges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114800" y="2468880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Image Enhancement (Stages 1–5)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914400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25880" y="9601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9601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resized to 512×512 pixels for consistency across the pipeline.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63624"/>
            <a:ext cx="859536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764792"/>
            <a:ext cx="914400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764792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17647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76479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→ grayscale. Focuses on intensity differences between dark lesion and lighter skin.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68296"/>
            <a:ext cx="859536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69464"/>
            <a:ext cx="914400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569464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25880" y="25694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256946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Limited Adaptive Histogram Equalization. Improves local contrast in 8×8 tile regions. clipLimit=3.0 prevents noise amplification.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172968"/>
            <a:ext cx="859536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374136"/>
            <a:ext cx="914400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37413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25880" y="33741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+35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91840" y="337413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+35 brightness offset to increase contrast between lesion and surrounding skin.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977640"/>
            <a:ext cx="859536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178808"/>
            <a:ext cx="914400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17880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25880" y="41788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γ=1.7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417880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intensity transform. γ&gt;1 darkens already dark pixels more, sharpening the lesion boundary.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Stage 7 — Adaptive Threshold Segmentation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innovation of this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1A2A3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=  P  −  ( 0.28 × P 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T = threshold value     P = histogram peak (dominant skin intensity)     0.28 = scaling factor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402336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86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Classification Rule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I(x,y) &lt; T  →  Melanoma (255)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I(x,y) ≥ T  →  Skin (0)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286000"/>
            <a:ext cx="4023360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286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Adaptive?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606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calculated from each image's own histogram → works on all skin tones automatically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91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Other Segmentation Methods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57600"/>
          <a:ext cx="8412480" cy="1170432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Threshold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Clustering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(U-Net)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(training)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Filtering &amp; Morphological Processing (Stages 6–10)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737360"/>
          </a:xfrm>
          <a:prstGeom prst="rect">
            <a:avLst/>
          </a:prstGeom>
          <a:solidFill>
            <a:srgbClr val="F8FAFB"/>
          </a:solidFill>
          <a:ln w="254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 (Stage 6)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5×5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pixel with neighborhood median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noise, hair artifacts, skin texture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Preserves: lesion sharp edges (vs Gaussian)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737360"/>
          </a:xfrm>
          <a:prstGeom prst="rect">
            <a:avLst/>
          </a:prstGeom>
          <a:solidFill>
            <a:srgbClr val="F8FAFB"/>
          </a:solidFill>
          <a:ln w="254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114800" cy="4114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Smoothing (Stage 8)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5×5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Softens rough, jagged binary mask edges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Re-thresholded at 127 to re-binarize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cleaner smoother mask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14800" cy="1737360"/>
          </a:xfrm>
          <a:prstGeom prst="rect">
            <a:avLst/>
          </a:prstGeom>
          <a:solidFill>
            <a:srgbClr val="F8FAFB"/>
          </a:solidFill>
          <a:ln w="25400">
            <a:solidFill>
              <a:srgbClr val="7F8C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4114800" cy="41148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926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Closing (Stage 9)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38328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Dilation then Erosion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Elliptical 5×5 kernel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small holes inside lesion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lesion continuity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737360"/>
          </a:xfrm>
          <a:prstGeom prst="rect">
            <a:avLst/>
          </a:prstGeom>
          <a:solidFill>
            <a:srgbClr val="F8FAFB"/>
          </a:solidFill>
          <a:ln w="25400">
            <a:solidFill>
              <a:srgbClr val="2C3E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4114800" cy="4114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926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Dilation (Stage 10)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38328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Elliptical 5×5 kernel, 1 iteration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lesion region outward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nearby disconnected pixels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Strengthens segmented region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11 — Connected Component Filtering: Removes all white blobs with area &lt; 120 pixels (noise elimination)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Detection, Edge Analysis &amp; Feature Extraction (Stages 11–12)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2103120"/>
          </a:xfrm>
          <a:prstGeom prst="rect">
            <a:avLst/>
          </a:prstGeom>
          <a:solidFill>
            <a:srgbClr val="F0FFF4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Center-Based Contour Selection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53312"/>
            <a:ext cx="3794760" cy="10980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d = √[(cx − 256)² + (cy − 256)²]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contour with minimum distance 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lesion is near image center (dermoscopic standard)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area filter: 150 pixels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850781"/>
            <a:ext cx="4297680" cy="2103120"/>
          </a:xfrm>
          <a:prstGeom prst="rect">
            <a:avLst/>
          </a:prstGeom>
          <a:solidFill>
            <a:srgbClr val="FFF5F5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914400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 Detection (Stage 12)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264596"/>
            <a:ext cx="4023360" cy="1313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threshold: 50   |   High threshold: 150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precise lesion boundary edges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 final lesion binary mask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irregular edge structures of melanoma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3200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Morphological Features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657600"/>
            <a:ext cx="274320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3657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" y="4069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count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contour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4572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lesion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3657600"/>
            <a:ext cx="2743200" cy="12801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3657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0" y="4069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length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boundary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4572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length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657600"/>
            <a:ext cx="2743200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3657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Circularity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26480" y="4069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4π × Area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Perimeter²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4572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regularity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(1.0 = perfect circle)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Selection &amp; Justification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4224528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493776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Selected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Improves local contrast, highlights dark pigmented regions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Brightness +35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Increases intensity gap between lesion and skin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 Correction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Enhances darker regions under uneven illumination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Filter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noise/hair while preserving lesion boundaries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Auto-adapts to skin tone &amp; illumination via histogram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Smooth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rough edges before morphological processing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Morphology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+ Dilation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Fills holes, connects lesion pixels, improves continuity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Removal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Components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isolated noise blobs (&lt; 120 px area)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 Contour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Lesion always near center in dermoscopic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Canny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Accurately highlights irregular melanoma boundaries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 of the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Advantages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4114800" cy="2101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automatically to different skin tones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+ Gamma enhance low-contrast images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 preserves lesion boundaries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data or GPU required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fast — suitable for real-time use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interpretable — every stage visible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boundaries for clear dermoscopic images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3834643" cy="2101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very low-contrast melanoma lesions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heavy hair artifacts &amp; shadows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accurate than deep learning (CNN/U-Net)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selection fails if lesion is off-center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depends on histogram — breaks on noise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handle multiple overlapping lesions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accuracy for complex pigmentation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Clear dermoscopy images • Central lesions • Dark pigmentation • Moderate-to-high contrast • Uniform illumination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 — UI &amp; Implementation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377440" cy="4023360"/>
          </a:xfrm>
          <a:prstGeom prst="rect">
            <a:avLst/>
          </a:prstGeom>
          <a:solidFill>
            <a:srgbClr val="DCEBFF"/>
          </a:solidFill>
          <a:ln w="254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684834"/>
            <a:ext cx="2194560" cy="21431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Metrics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Area (px²)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Perimeter (px)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Circularity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Threshold value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DataFrame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Block Diagram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914400"/>
            <a:ext cx="5943600" cy="4023360"/>
          </a:xfrm>
          <a:prstGeom prst="rect">
            <a:avLst/>
          </a:prstGeom>
          <a:solidFill>
            <a:srgbClr val="F5F7FF"/>
          </a:solidFill>
          <a:ln w="1905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0" y="91440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PANEL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35030" y="2616739"/>
            <a:ext cx="5730759" cy="2211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Melanoma Skin Lesion Image Processing System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Uploader: JPG / JPEG / PNG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Output Stages displayed with headers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comparison (Original vs Enhanced)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contour image with 'Melanoma' label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segmented lesion (color on black background)</a:t>
            </a:r>
            <a:endParaRPr lang="en-US" sz="1050" dirty="0"/>
          </a:p>
        </p:txBody>
      </p:sp>
      <p:pic>
        <p:nvPicPr>
          <p:cNvPr id="25" name="Picture 2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4590" y="1298448"/>
            <a:ext cx="6797310" cy="18402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0A2A3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computationally simple, cost-effective, and real-time melanoma segmentation system — built without any machine learning or GPU.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84048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28600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+ Gamma + Brightness enhance lesion visibility in low-contrast images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779776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 auto-adapts to skin tone — no fixed parameters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273552"/>
            <a:ext cx="384048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73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27355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+ Component filtering produce clean lesion masks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767328"/>
            <a:ext cx="384048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67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76732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+ Canny detect precise lesion boundaries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261104"/>
            <a:ext cx="384048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61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261104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Area, Perimeter, Circularity for clinical morphological analysis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DSIP Project — Melanoma Skin Lesion Detection 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1150</Words>
  <Application>Microsoft Office PowerPoint</Application>
  <PresentationFormat>On-screen Show (16:9)</PresentationFormat>
  <Paragraphs>220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Melanoma Skin Lesion Detection - DSIP Project</dc:title>
  <dc:subject>PptxGenJS Presentation</dc:subject>
  <dc:creator>PptxGenJS</dc:creator>
  <cp:lastModifiedBy>LENOVO</cp:lastModifiedBy>
  <cp:revision>5</cp:revision>
  <dcterms:created xsi:type="dcterms:W3CDTF">2026-05-17T09:29:48Z</dcterms:created>
  <dcterms:modified xsi:type="dcterms:W3CDTF">2026-05-17T14:54:59Z</dcterms:modified>
</cp:coreProperties>
</file>